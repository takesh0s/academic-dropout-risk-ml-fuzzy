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B0802030000000004"/>
      <p:regular r:id="rId16"/>
    </p:embeddedFont>
    <p:embeddedFont>
      <p:font typeface="Inter" charset="1" panose="020B0502030000000004"/>
      <p:regular r:id="rId17"/>
    </p:embeddedFont>
    <p:embeddedFont>
      <p:font typeface="Inter Italics" charset="1" panose="020B05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84007"/>
            <a:ext cx="15087870" cy="8134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43"/>
              </a:lnSpc>
            </a:pPr>
            <a:r>
              <a:rPr lang="en-US" b="true" sz="18389" spc="-189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RISCO DE EVASAO</a:t>
            </a:r>
          </a:p>
          <a:p>
            <a:pPr algn="l">
              <a:lnSpc>
                <a:spcPts val="4751"/>
              </a:lnSpc>
            </a:pPr>
          </a:p>
          <a:p>
            <a:pPr algn="l" marL="0" indent="0" lvl="0">
              <a:lnSpc>
                <a:spcPts val="14343"/>
              </a:lnSpc>
            </a:pPr>
            <a:r>
              <a:rPr lang="en-US" b="true" sz="18389" spc="-189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ML + LOGICA FUZZY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422138" y="2981880"/>
            <a:ext cx="8865862" cy="7871429"/>
          </a:xfrm>
          <a:custGeom>
            <a:avLst/>
            <a:gdLst/>
            <a:ahLst/>
            <a:cxnLst/>
            <a:rect r="r" b="b" t="t" l="l"/>
            <a:pathLst>
              <a:path h="7871429" w="8865862">
                <a:moveTo>
                  <a:pt x="0" y="0"/>
                </a:moveTo>
                <a:lnTo>
                  <a:pt x="8865862" y="0"/>
                </a:lnTo>
                <a:lnTo>
                  <a:pt x="8865862" y="7871429"/>
                </a:lnTo>
                <a:lnTo>
                  <a:pt x="0" y="787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785" r="0" b="-84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92200" y="1258152"/>
            <a:ext cx="4094393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b="true" sz="1600" spc="-4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DETECÇÃO DE EVA</a:t>
            </a:r>
            <a:r>
              <a:rPr lang="en-US" b="true" sz="1600" spc="-4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SÃO ACADÊMICA COM MACHINE LEARNING E INFERÊNCIA FUZZY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87400" y="8310077"/>
            <a:ext cx="4495800" cy="44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04"/>
              </a:lnSpc>
            </a:pPr>
            <a:r>
              <a:rPr lang="en-US" b="true" sz="3600" spc="-25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GRUPO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58298" cy="10287000"/>
            <a:chOff x="0" y="0"/>
            <a:chExt cx="1279427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9427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79427">
                  <a:moveTo>
                    <a:pt x="0" y="0"/>
                  </a:moveTo>
                  <a:lnTo>
                    <a:pt x="1279427" y="0"/>
                  </a:lnTo>
                  <a:lnTo>
                    <a:pt x="127942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8018" t="0" r="-5039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12220" y="1181100"/>
            <a:ext cx="5689600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12220" y="2511559"/>
            <a:ext cx="8447080" cy="620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3240" spc="-97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A evasão acadêmica representa uma perda si</a:t>
            </a:r>
            <a:r>
              <a:rPr lang="en-US" sz="3240" spc="-97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gnificativa para estudantes e instituições. Sem acesso a dados reais — protegidos pela LGPD — criamos uma base sintética com 420 registros que emula padrões de engajamento: frequência, notas, atividades entregues, acessos ao AVA, reprovações anteriores e situação financeira. O objetivo é classificar cada estudante em risco baixo, médio ou alto, viabilizando intervenção pedagógica precoce e direcionada.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800" y="1427846"/>
            <a:ext cx="11529840" cy="8363854"/>
            <a:chOff x="0" y="0"/>
            <a:chExt cx="1577985" cy="1144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7985" cy="1144685"/>
            </a:xfrm>
            <a:custGeom>
              <a:avLst/>
              <a:gdLst/>
              <a:ahLst/>
              <a:cxnLst/>
              <a:rect r="r" b="b" t="t" l="l"/>
              <a:pathLst>
                <a:path h="1144685" w="1577985">
                  <a:moveTo>
                    <a:pt x="0" y="0"/>
                  </a:moveTo>
                  <a:lnTo>
                    <a:pt x="1577985" y="0"/>
                  </a:lnTo>
                  <a:lnTo>
                    <a:pt x="1577985" y="1144685"/>
                  </a:lnTo>
                  <a:lnTo>
                    <a:pt x="0" y="1144685"/>
                  </a:lnTo>
                  <a:close/>
                </a:path>
              </a:pathLst>
            </a:custGeom>
            <a:blipFill>
              <a:blip r:embed="rId2"/>
              <a:stretch>
                <a:fillRect l="-4439" t="0" r="-4439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4800" y="457200"/>
            <a:ext cx="7188200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PIPELINE DA SOLUÇÃO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82762" y="1456421"/>
            <a:ext cx="6033793" cy="32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ETAP</a:t>
            </a: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A 1 | MACHINE LEARNING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82762" y="4359340"/>
            <a:ext cx="6033793" cy="32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ETAPA</a:t>
            </a: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 2 | SISTEMA FUZZY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82762" y="1849009"/>
            <a:ext cx="6033793" cy="193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102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O melhor modelo (Naive Bayes Gaussiano, 92,1% de acurácia) recebe os 6 atributos do estudante e retorna a probabilidade de evasão via predict_proba — um vetor com a confiança do modelo para cada classe.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82762" y="4751903"/>
            <a:ext cx="6033793" cy="193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102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Essa probabilidade, junto com frequência e acessos ao AVA, alimenta 8 regras Mamdani. O sistema fuzzifica as entradas, aplica operadores mínimo/máximo e defuzzifica por centroide, gerando um score de 0 a 100.</a:t>
            </a:r>
          </a:p>
        </p:txBody>
      </p:sp>
      <p:sp>
        <p:nvSpPr>
          <p:cNvPr name="AutoShape 9" id="9"/>
          <p:cNvSpPr/>
          <p:nvPr/>
        </p:nvSpPr>
        <p:spPr>
          <a:xfrm>
            <a:off x="11834640" y="4042889"/>
            <a:ext cx="6033793" cy="0"/>
          </a:xfrm>
          <a:prstGeom prst="line">
            <a:avLst/>
          </a:prstGeom>
          <a:ln cap="flat" w="2857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834640" y="6945807"/>
            <a:ext cx="6033793" cy="0"/>
          </a:xfrm>
          <a:prstGeom prst="line">
            <a:avLst/>
          </a:prstGeom>
          <a:ln cap="flat" w="28575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082762" y="7198220"/>
            <a:ext cx="6033793" cy="325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b="true" sz="2365" spc="-7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TAPA 3 | DIAGNOSTICO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2762" y="7590783"/>
            <a:ext cx="6033793" cy="154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sz="2102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O resultado é acionável: em vez de "alto, 0.73", o coordenador recebe "CRÍTICO, 88/100" — urgência clara baseada em histórico e comportamento atual, em linguagem direta.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316069"/>
            <a:chOff x="0" y="0"/>
            <a:chExt cx="2833290" cy="668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668672"/>
            </a:xfrm>
            <a:custGeom>
              <a:avLst/>
              <a:gdLst/>
              <a:ahLst/>
              <a:cxnLst/>
              <a:rect r="r" b="b" t="t" l="l"/>
              <a:pathLst>
                <a:path h="668672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68672"/>
                  </a:lnTo>
                  <a:lnTo>
                    <a:pt x="0" y="668672"/>
                  </a:lnTo>
                  <a:close/>
                </a:path>
              </a:pathLst>
            </a:custGeom>
            <a:blipFill>
              <a:blip r:embed="rId2"/>
              <a:stretch>
                <a:fillRect l="0" t="-29751" r="0" b="-1530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91600" y="1574977"/>
            <a:ext cx="8991600" cy="4316069"/>
            <a:chOff x="0" y="0"/>
            <a:chExt cx="1393034" cy="6686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3034" cy="668672"/>
            </a:xfrm>
            <a:custGeom>
              <a:avLst/>
              <a:gdLst/>
              <a:ahLst/>
              <a:cxnLst/>
              <a:rect r="r" b="b" t="t" l="l"/>
              <a:pathLst>
                <a:path h="668672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668672"/>
                  </a:lnTo>
                  <a:lnTo>
                    <a:pt x="0" y="668672"/>
                  </a:lnTo>
                  <a:close/>
                </a:path>
              </a:pathLst>
            </a:custGeom>
            <a:blipFill>
              <a:blip r:embed="rId3"/>
              <a:stretch>
                <a:fillRect l="0" t="-18310" r="0" b="-183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4800" y="4871399"/>
            <a:ext cx="8113272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BIBLIOTECAS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42283" y="7211316"/>
            <a:ext cx="2457938" cy="15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SCIKIT-LEARN — ÁRVORE DE DECISÃO E NAIVE BAYES GAUSSIANO</a:t>
            </a: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00272" y="7211316"/>
            <a:ext cx="2692400" cy="123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SCIKIT</a:t>
            </a: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-FUZZY — SISTEMA DE INFERÊNCIA MAMDANI.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92722" y="7211316"/>
            <a:ext cx="2681281" cy="93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PANDAS + NUMPY — MANIPULAÇÃO</a:t>
            </a: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 DE DADOS.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4800" y="8219823"/>
            <a:ext cx="3513015" cy="17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Todas as bibliotecas são open-source e executadas no Google Colab. Com um único pipeline integrado a partir de ambas as abordagens scikit-learn + scikit-fuzzy.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70289" y="7211316"/>
            <a:ext cx="2520088" cy="123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MATPLOTLIB + SEABORN — VISUALIZAÇÕES</a:t>
            </a: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 E EDA.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5967" r="0" b="-159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03400" y="1880646"/>
            <a:ext cx="5689600" cy="7248621"/>
            <a:chOff x="0" y="0"/>
            <a:chExt cx="881468" cy="1123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1468" cy="1123001"/>
            </a:xfrm>
            <a:custGeom>
              <a:avLst/>
              <a:gdLst/>
              <a:ahLst/>
              <a:cxnLst/>
              <a:rect r="r" b="b" t="t" l="l"/>
              <a:pathLst>
                <a:path h="1123001" w="881468">
                  <a:moveTo>
                    <a:pt x="0" y="0"/>
                  </a:moveTo>
                  <a:lnTo>
                    <a:pt x="881468" y="0"/>
                  </a:lnTo>
                  <a:lnTo>
                    <a:pt x="881468" y="1123001"/>
                  </a:lnTo>
                  <a:lnTo>
                    <a:pt x="0" y="1123001"/>
                  </a:lnTo>
                  <a:close/>
                </a:path>
              </a:pathLst>
            </a:custGeom>
            <a:blipFill>
              <a:blip r:embed="rId3"/>
              <a:stretch>
                <a:fillRect l="-61755" t="0" r="-6175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592828"/>
            <a:ext cx="6809333" cy="1886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0"/>
              </a:lnSpc>
            </a:pPr>
            <a:r>
              <a:rPr lang="en-US" b="true" sz="8000" spc="-5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ARQUITETURA DA SOLUÇAO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4546" y="2767233"/>
            <a:ext cx="4191000" cy="10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54"/>
              </a:lnSpc>
            </a:pPr>
            <a:r>
              <a:rPr lang="en-US" sz="8600" spc="-6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94546" y="1947321"/>
            <a:ext cx="2997200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  <a:spcBef>
                <a:spcPct val="0"/>
              </a:spcBef>
            </a:pPr>
            <a:r>
              <a:rPr lang="en-US" b="true" sz="4200" spc="-12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REGISTROS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94546" y="4300959"/>
            <a:ext cx="2997200" cy="31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Base sintética balanceada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94546" y="5249166"/>
            <a:ext cx="3099777" cy="15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BASE DE DADOS: 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420 REGISTROS (140/CLASS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E), 6 VARIÁVEIS, EDA COMPLETA.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81563" y="5251363"/>
            <a:ext cx="3466123" cy="154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LEARNING: 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ÁRVORE DE D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ECISÃO (84,1%) E NAIVE BAYES GAUSSIANO (92,1%), CV 5-FOLD.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94546" y="7192177"/>
            <a:ext cx="3348892" cy="21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PRÉ-PROCESSAMENTO: 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CO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DIFICAÇÃO ORDINAL, STANDARDSCALER, SPLIT 70/30 ESTRATIFICADO.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93177" y="7192177"/>
            <a:ext cx="2689469" cy="215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SISTEMA FUZZY: </a:t>
            </a:r>
            <a:r>
              <a:rPr lang="en-US" sz="2400" i="true" spc="-72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MAMDANI, 3 ENTRADAS, 8 REGRAS SE-ENTÃO, DEFUZZIFICAÇÃO POR CENTROIDE.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PÁGINA 5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094546" y="6973102"/>
            <a:ext cx="7375634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433913" y="5211066"/>
            <a:ext cx="9525" cy="4219422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800" y="2222742"/>
            <a:ext cx="2692400" cy="1346163"/>
            <a:chOff x="0" y="0"/>
            <a:chExt cx="417123" cy="208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7123" cy="208556"/>
            </a:xfrm>
            <a:custGeom>
              <a:avLst/>
              <a:gdLst/>
              <a:ahLst/>
              <a:cxnLst/>
              <a:rect r="r" b="b" t="t" l="l"/>
              <a:pathLst>
                <a:path h="208556" w="417123">
                  <a:moveTo>
                    <a:pt x="0" y="0"/>
                  </a:moveTo>
                  <a:lnTo>
                    <a:pt x="417123" y="0"/>
                  </a:lnTo>
                  <a:lnTo>
                    <a:pt x="417123" y="208556"/>
                  </a:lnTo>
                  <a:lnTo>
                    <a:pt x="0" y="208556"/>
                  </a:lnTo>
                  <a:close/>
                </a:path>
              </a:pathLst>
            </a:custGeom>
            <a:blipFill>
              <a:blip r:embed="rId2"/>
              <a:stretch>
                <a:fillRect l="0" t="-7697" r="0" b="-76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28315" y="2222742"/>
            <a:ext cx="2692400" cy="1346163"/>
            <a:chOff x="0" y="0"/>
            <a:chExt cx="417123" cy="208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7123" cy="208556"/>
            </a:xfrm>
            <a:custGeom>
              <a:avLst/>
              <a:gdLst/>
              <a:ahLst/>
              <a:cxnLst/>
              <a:rect r="r" b="b" t="t" l="l"/>
              <a:pathLst>
                <a:path h="208556" w="417123">
                  <a:moveTo>
                    <a:pt x="0" y="0"/>
                  </a:moveTo>
                  <a:lnTo>
                    <a:pt x="417123" y="0"/>
                  </a:lnTo>
                  <a:lnTo>
                    <a:pt x="417123" y="208556"/>
                  </a:lnTo>
                  <a:lnTo>
                    <a:pt x="0" y="208556"/>
                  </a:lnTo>
                  <a:close/>
                </a:path>
              </a:pathLst>
            </a:custGeom>
            <a:blipFill>
              <a:blip r:embed="rId3"/>
              <a:stretch>
                <a:fillRect l="0" t="-6251" r="0" b="-625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734914" y="2222742"/>
            <a:ext cx="2692400" cy="1346163"/>
            <a:chOff x="0" y="0"/>
            <a:chExt cx="417123" cy="208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7123" cy="208556"/>
            </a:xfrm>
            <a:custGeom>
              <a:avLst/>
              <a:gdLst/>
              <a:ahLst/>
              <a:cxnLst/>
              <a:rect r="r" b="b" t="t" l="l"/>
              <a:pathLst>
                <a:path h="208556" w="417123">
                  <a:moveTo>
                    <a:pt x="0" y="0"/>
                  </a:moveTo>
                  <a:lnTo>
                    <a:pt x="417123" y="0"/>
                  </a:lnTo>
                  <a:lnTo>
                    <a:pt x="417123" y="208556"/>
                  </a:lnTo>
                  <a:lnTo>
                    <a:pt x="0" y="208556"/>
                  </a:lnTo>
                  <a:close/>
                </a:path>
              </a:pathLst>
            </a:custGeom>
            <a:blipFill>
              <a:blip r:embed="rId4"/>
              <a:stretch>
                <a:fillRect l="0" t="-17535" r="0" b="-17535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304800" y="1984617"/>
            <a:ext cx="2709085" cy="0"/>
          </a:xfrm>
          <a:prstGeom prst="line">
            <a:avLst/>
          </a:prstGeom>
          <a:ln cap="flat" w="1905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3728349" y="1994142"/>
            <a:ext cx="2692400" cy="9525"/>
          </a:xfrm>
          <a:prstGeom prst="line">
            <a:avLst/>
          </a:prstGeom>
          <a:ln cap="flat" w="1905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651546" y="1984617"/>
            <a:ext cx="2692400" cy="0"/>
          </a:xfrm>
          <a:prstGeom prst="line">
            <a:avLst/>
          </a:prstGeom>
          <a:ln cap="flat" w="1905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1734914" y="1965567"/>
            <a:ext cx="2692400" cy="9525"/>
          </a:xfrm>
          <a:prstGeom prst="line">
            <a:avLst/>
          </a:prstGeom>
          <a:ln cap="flat" w="1905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5055536" y="1965567"/>
            <a:ext cx="2692400" cy="0"/>
          </a:xfrm>
          <a:prstGeom prst="line">
            <a:avLst/>
          </a:prstGeom>
          <a:ln cap="flat" w="19050">
            <a:solidFill>
              <a:srgbClr val="1800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055536" y="2222742"/>
            <a:ext cx="2692400" cy="1346163"/>
            <a:chOff x="0" y="0"/>
            <a:chExt cx="417123" cy="208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7123" cy="208556"/>
            </a:xfrm>
            <a:custGeom>
              <a:avLst/>
              <a:gdLst/>
              <a:ahLst/>
              <a:cxnLst/>
              <a:rect r="r" b="b" t="t" l="l"/>
              <a:pathLst>
                <a:path h="208556" w="417123">
                  <a:moveTo>
                    <a:pt x="0" y="0"/>
                  </a:moveTo>
                  <a:lnTo>
                    <a:pt x="417123" y="0"/>
                  </a:lnTo>
                  <a:lnTo>
                    <a:pt x="417123" y="208556"/>
                  </a:lnTo>
                  <a:lnTo>
                    <a:pt x="0" y="208556"/>
                  </a:lnTo>
                  <a:close/>
                </a:path>
              </a:pathLst>
            </a:custGeom>
            <a:blipFill>
              <a:blip r:embed="rId5"/>
              <a:stretch>
                <a:fillRect l="0" t="-99003" r="0" b="-100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664939" y="2221396"/>
            <a:ext cx="2692400" cy="1346163"/>
            <a:chOff x="0" y="0"/>
            <a:chExt cx="417123" cy="2085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7123" cy="208556"/>
            </a:xfrm>
            <a:custGeom>
              <a:avLst/>
              <a:gdLst/>
              <a:ahLst/>
              <a:cxnLst/>
              <a:rect r="r" b="b" t="t" l="l"/>
              <a:pathLst>
                <a:path h="208556" w="417123">
                  <a:moveTo>
                    <a:pt x="0" y="0"/>
                  </a:moveTo>
                  <a:lnTo>
                    <a:pt x="417123" y="0"/>
                  </a:lnTo>
                  <a:lnTo>
                    <a:pt x="417123" y="208556"/>
                  </a:lnTo>
                  <a:lnTo>
                    <a:pt x="0" y="208556"/>
                  </a:lnTo>
                  <a:close/>
                </a:path>
              </a:pathLst>
            </a:custGeom>
            <a:blipFill>
              <a:blip r:embed="rId6"/>
              <a:stretch>
                <a:fillRect l="0" t="-29008" r="0" b="-2099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04800" y="457200"/>
            <a:ext cx="6663804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4800" y="3832913"/>
            <a:ext cx="2692400" cy="688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  <a:spcBef>
                <a:spcPct val="0"/>
              </a:spcBef>
            </a:pPr>
            <a:r>
              <a:rPr lang="en-US" b="true" sz="2599" spc="-77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ARVORE DE DECISÃO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28315" y="3832913"/>
            <a:ext cx="2692400" cy="35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  <a:spcBef>
                <a:spcPct val="0"/>
              </a:spcBef>
            </a:pPr>
            <a:r>
              <a:rPr lang="en-US" b="true" sz="2599" spc="-77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NAIVE BAYES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1546" y="3832913"/>
            <a:ext cx="2692400" cy="35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  <a:spcBef>
                <a:spcPct val="0"/>
              </a:spcBef>
            </a:pPr>
            <a:r>
              <a:rPr lang="en-US" b="true" sz="2599" spc="-77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ESTABILIDADE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4800" y="4718332"/>
            <a:ext cx="2692400" cy="146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Arvore de Decisao (max_depth=6, gini) — acuracia 84,1%, F1 macro 0,844, regras IF-THEN auditaveis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28315" y="4718332"/>
            <a:ext cx="2692400" cy="117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Naive Bayes Gaussiano — acuracia 92,1%, F1 macro 0,920, predict_proba calibrado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1546" y="4718332"/>
            <a:ext cx="2692400" cy="87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CV 5-fold: Arvore 0,798 +/- 0,039; Naive Bayes 0,929 +/- 0,018 (mais estavel)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34914" y="4599110"/>
            <a:ext cx="2692400" cy="87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Naive Bayes selecionado para alimentar o pipeline Fuzzy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228844" y="4599110"/>
            <a:ext cx="2692400" cy="1172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Nenhum dos dois modelos apresentou overfitting (baixo desvio padrao no CV).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1788" y="959541"/>
            <a:ext cx="6420715" cy="530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7"/>
              </a:lnSpc>
              <a:spcBef>
                <a:spcPct val="0"/>
              </a:spcBef>
            </a:pPr>
            <a:r>
              <a:rPr lang="en-US" sz="3098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Arvore de Decisao e Naive Bayes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734914" y="3832913"/>
            <a:ext cx="2692400" cy="35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  <a:spcBef>
                <a:spcPct val="0"/>
              </a:spcBef>
            </a:pPr>
            <a:r>
              <a:rPr lang="en-US" b="true" sz="2599" spc="-77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PIPELINE FUZZY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60739" y="3803195"/>
            <a:ext cx="2692400" cy="354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1"/>
              </a:lnSpc>
              <a:spcBef>
                <a:spcPct val="0"/>
              </a:spcBef>
            </a:pPr>
            <a:r>
              <a:rPr lang="en-US" b="true" sz="2599" spc="-77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OVERFITTING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1429" y="1872494"/>
            <a:ext cx="4191000" cy="6774815"/>
            <a:chOff x="0" y="0"/>
            <a:chExt cx="1103802" cy="17843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3802" cy="1784313"/>
            </a:xfrm>
            <a:custGeom>
              <a:avLst/>
              <a:gdLst/>
              <a:ahLst/>
              <a:cxnLst/>
              <a:rect r="r" b="b" t="t" l="l"/>
              <a:pathLst>
                <a:path h="1784313" w="1103802">
                  <a:moveTo>
                    <a:pt x="0" y="0"/>
                  </a:moveTo>
                  <a:lnTo>
                    <a:pt x="1103802" y="0"/>
                  </a:lnTo>
                  <a:lnTo>
                    <a:pt x="1103802" y="1784313"/>
                  </a:lnTo>
                  <a:lnTo>
                    <a:pt x="0" y="1784313"/>
                  </a:lnTo>
                  <a:close/>
                </a:path>
              </a:pathLst>
            </a:custGeom>
            <a:solidFill>
              <a:srgbClr val="1800AD"/>
            </a:solidFill>
            <a:ln w="9525" cap="sq">
              <a:solidFill>
                <a:srgbClr val="1800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9050"/>
              <a:ext cx="1103802" cy="176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47692" y="1872494"/>
            <a:ext cx="4191000" cy="6774815"/>
            <a:chOff x="0" y="0"/>
            <a:chExt cx="1103802" cy="1784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3802" cy="1784313"/>
            </a:xfrm>
            <a:custGeom>
              <a:avLst/>
              <a:gdLst/>
              <a:ahLst/>
              <a:cxnLst/>
              <a:rect r="r" b="b" t="t" l="l"/>
              <a:pathLst>
                <a:path h="1784313" w="1103802">
                  <a:moveTo>
                    <a:pt x="0" y="0"/>
                  </a:moveTo>
                  <a:lnTo>
                    <a:pt x="1103802" y="0"/>
                  </a:lnTo>
                  <a:lnTo>
                    <a:pt x="1103802" y="1784313"/>
                  </a:lnTo>
                  <a:lnTo>
                    <a:pt x="0" y="1784313"/>
                  </a:lnTo>
                  <a:close/>
                </a:path>
              </a:pathLst>
            </a:custGeom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1103802" cy="176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2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71429" y="1017784"/>
            <a:ext cx="4495800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ENTRADAS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32040" y="2145891"/>
            <a:ext cx="1420262" cy="3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PROB_ML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73982" y="1910594"/>
            <a:ext cx="2692400" cy="62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REGRAS CRITICAS/ALTAS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2040" y="2584412"/>
            <a:ext cx="3648070" cy="15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Probabilidade da classe “alto” retornada pelo Naive Bayes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Baixa: 0,0 - 0,3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Média: 0,2 - 0,7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Alta: 0,6 - 1,0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73982" y="2663374"/>
            <a:ext cx="3734233" cy="176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R1: prob alta E freq baixa - CRÍTICO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R2: prob alta E eng baixo - CRÍTICO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R3: prob alta E freq média - ALTO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R4: prob média E eng baixo - ALTO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7692" y="1017784"/>
            <a:ext cx="4495800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REGRAS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3982" y="4937888"/>
            <a:ext cx="2692400" cy="62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REGRAS MEDIAS/BAIXAS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3982" y="5621336"/>
            <a:ext cx="3561720" cy="264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R5: prob média E freq média - MÉDIO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R6: prob baixa E freq alta – BAIXO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R7: prob baixa E freq alta - BAIXO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R8: prob baixa E eng alto - BAIXO</a:t>
            </a:r>
          </a:p>
          <a:p>
            <a:pPr algn="l" marL="345449" indent="-172725" lvl="1">
              <a:lnSpc>
                <a:spcPts val="2368"/>
              </a:lnSpc>
              <a:buFont typeface="Arial"/>
              <a:buChar char="•"/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Operador E = mínimo dos antecedentes.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32040" y="4432388"/>
            <a:ext cx="1934889" cy="3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FREQUÊNCIA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32040" y="4868252"/>
            <a:ext cx="3869779" cy="125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Percentual de presença nas aulas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Baixa: 0 - 50%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Média: 40 - 80%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Alta: 70 - 100%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32040" y="6398474"/>
            <a:ext cx="2969966" cy="3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ENGAJAMENTO AVA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32040" y="6834338"/>
            <a:ext cx="3648070" cy="1253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Acessos ao AVA por semana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Baixa: 0 - 10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Média: 5 - 20</a:t>
            </a:r>
          </a:p>
          <a:p>
            <a:pPr algn="l" marL="367039" indent="-183519" lvl="1">
              <a:lnSpc>
                <a:spcPts val="2516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Alta: 15 - 30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19767" y="1872494"/>
            <a:ext cx="4191000" cy="6774815"/>
            <a:chOff x="0" y="0"/>
            <a:chExt cx="1103802" cy="17843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3802" cy="1784313"/>
            </a:xfrm>
            <a:custGeom>
              <a:avLst/>
              <a:gdLst/>
              <a:ahLst/>
              <a:cxnLst/>
              <a:rect r="r" b="b" t="t" l="l"/>
              <a:pathLst>
                <a:path h="1784313" w="1103802">
                  <a:moveTo>
                    <a:pt x="0" y="0"/>
                  </a:moveTo>
                  <a:lnTo>
                    <a:pt x="1103802" y="0"/>
                  </a:lnTo>
                  <a:lnTo>
                    <a:pt x="1103802" y="1784313"/>
                  </a:lnTo>
                  <a:lnTo>
                    <a:pt x="0" y="1784313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1103802" cy="1765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2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548150" y="2145891"/>
            <a:ext cx="2692400" cy="321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b="true" sz="2400" spc="-7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RISCO_FINAL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19767" y="1017784"/>
            <a:ext cx="4495800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SAÍDAS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8367" y="2593937"/>
            <a:ext cx="3734233" cy="431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Defuzzificação por centroide (mamdani)</a:t>
            </a:r>
          </a:p>
          <a:p>
            <a:pPr algn="l">
              <a:lnSpc>
                <a:spcPts val="266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Score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0 - 100</a:t>
            </a:r>
          </a:p>
          <a:p>
            <a:pPr algn="l" marL="388628" indent="-194314" lvl="1">
              <a:lnSpc>
                <a:spcPts val="266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Baixo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0 - 30</a:t>
            </a:r>
          </a:p>
          <a:p>
            <a:pPr algn="l" marL="388628" indent="-194314" lvl="1">
              <a:lnSpc>
                <a:spcPts val="266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Médio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25 - 55</a:t>
            </a:r>
          </a:p>
          <a:p>
            <a:pPr algn="l" marL="388628" indent="-194314" lvl="1">
              <a:lnSpc>
                <a:spcPts val="266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Alto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50 - 75</a:t>
            </a:r>
          </a:p>
          <a:p>
            <a:pPr algn="l" marL="388628" indent="-194314" lvl="1">
              <a:lnSpc>
                <a:spcPts val="2664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Crítico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70 - 100</a:t>
            </a:r>
          </a:p>
          <a:p>
            <a:pPr algn="l">
              <a:lnSpc>
                <a:spcPts val="2664"/>
              </a:lnSpc>
            </a:pPr>
          </a:p>
          <a:p>
            <a:pPr algn="l">
              <a:lnSpc>
                <a:spcPts val="266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Score médio - Alto risco: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84,4</a:t>
            </a:r>
          </a:p>
          <a:p>
            <a:pPr algn="l">
              <a:lnSpc>
                <a:spcPts val="266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Score médio - Baixo risco: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17,3</a:t>
            </a:r>
          </a:p>
          <a:p>
            <a:pPr algn="l">
              <a:lnSpc>
                <a:spcPts val="266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Separação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67,1 pontos</a:t>
            </a:r>
          </a:p>
          <a:p>
            <a:pPr algn="l">
              <a:lnSpc>
                <a:spcPts val="2664"/>
              </a:lnSpc>
            </a:pPr>
            <a:r>
              <a:rPr lang="en-US" sz="18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Concordância ML vs Fuzzy</a:t>
            </a: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86,5% (126 estudantes de teste)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1826" y="2117897"/>
            <a:ext cx="8295760" cy="67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6"/>
              </a:lnSpc>
            </a:pPr>
            <a:r>
              <a:rPr lang="en-US" b="true" sz="5400" spc="-38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92,1% ACURACIA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994400" y="0"/>
            <a:ext cx="5994400" cy="5143500"/>
            <a:chOff x="0" y="0"/>
            <a:chExt cx="928689" cy="796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8689" cy="796863"/>
            </a:xfrm>
            <a:custGeom>
              <a:avLst/>
              <a:gdLst/>
              <a:ahLst/>
              <a:cxnLst/>
              <a:rect r="r" b="b" t="t" l="l"/>
              <a:pathLst>
                <a:path h="796863" w="928689">
                  <a:moveTo>
                    <a:pt x="0" y="0"/>
                  </a:moveTo>
                  <a:lnTo>
                    <a:pt x="928689" y="0"/>
                  </a:lnTo>
                  <a:lnTo>
                    <a:pt x="928689" y="796863"/>
                  </a:lnTo>
                  <a:lnTo>
                    <a:pt x="0" y="796863"/>
                  </a:lnTo>
                  <a:close/>
                </a:path>
              </a:pathLst>
            </a:custGeom>
            <a:blipFill>
              <a:blip r:embed="rId2"/>
              <a:stretch>
                <a:fillRect l="-14394" t="0" r="-14394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994400" y="6546354"/>
            <a:ext cx="5994400" cy="3740646"/>
          </a:xfrm>
          <a:custGeom>
            <a:avLst/>
            <a:gdLst/>
            <a:ahLst/>
            <a:cxnLst/>
            <a:rect r="r" b="b" t="t" l="l"/>
            <a:pathLst>
              <a:path h="3740646" w="5994400">
                <a:moveTo>
                  <a:pt x="0" y="0"/>
                </a:moveTo>
                <a:lnTo>
                  <a:pt x="5994400" y="0"/>
                </a:lnTo>
                <a:lnTo>
                  <a:pt x="5994400" y="3740646"/>
                </a:lnTo>
                <a:lnTo>
                  <a:pt x="0" y="3740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4800" y="8679815"/>
            <a:ext cx="4888019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RESULTADOS DO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63072" y="2030903"/>
            <a:ext cx="5693668" cy="51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38"/>
              </a:lnSpc>
            </a:pPr>
            <a:r>
              <a:rPr lang="en-US" b="true" sz="4200" spc="-29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86,5% CONCORDANCIA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26" y="3143154"/>
            <a:ext cx="3725246" cy="1650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800" i="true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Naive Bayes Gaussiano alcançou 92,1% de acurácia e F1 macro 0,920, com CV 5-fold de 0,929 +/- 0,018 — boa generalização, sem overfitting.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94435" y="3143154"/>
            <a:ext cx="4062305" cy="13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4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ML e Fuzzy concordam em 86,5% dos 126 casos de teste, refletindo contexto comportamental que o ML histórico não captura.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41412" y="7583276"/>
            <a:ext cx="5315328" cy="98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4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Separação de 67,1 pontos entre o score fuzzy médio de alto risco (84,4) e baixo risco (17,3), distinguindo claramente os perfis extremos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PÁGINA 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63072" y="6679704"/>
            <a:ext cx="5693668" cy="562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94"/>
              </a:lnSpc>
            </a:pPr>
            <a:r>
              <a:rPr lang="en-US" b="true" sz="4600" spc="-32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67,1 PTS  SEPARAÇÃO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1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3592" y="345440"/>
            <a:ext cx="8560408" cy="68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4"/>
              </a:lnSpc>
            </a:pPr>
            <a:r>
              <a:rPr lang="en-US" b="true" sz="5499" spc="-39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FUNÇÕES DE PERTINÊNCIA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86238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48614" y="1446530"/>
            <a:ext cx="14790771" cy="8300085"/>
            <a:chOff x="0" y="0"/>
            <a:chExt cx="19066662" cy="106995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66638" cy="10699623"/>
            </a:xfrm>
            <a:custGeom>
              <a:avLst/>
              <a:gdLst/>
              <a:ahLst/>
              <a:cxnLst/>
              <a:rect r="r" b="b" t="t" l="l"/>
              <a:pathLst>
                <a:path h="10699623" w="19066638">
                  <a:moveTo>
                    <a:pt x="0" y="0"/>
                  </a:moveTo>
                  <a:lnTo>
                    <a:pt x="19066638" y="0"/>
                  </a:lnTo>
                  <a:lnTo>
                    <a:pt x="19066638" y="10699623"/>
                  </a:lnTo>
                  <a:lnTo>
                    <a:pt x="0" y="10699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328" r="0" b="-1132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653" y="2289284"/>
            <a:ext cx="13182600" cy="182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168"/>
              </a:lnSpc>
            </a:pPr>
            <a:r>
              <a:rPr lang="en-US" b="true" sz="14796" spc="-1050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CONCLUSÃO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0" y="2668856"/>
            <a:ext cx="5707150" cy="7618144"/>
          </a:xfrm>
          <a:custGeom>
            <a:avLst/>
            <a:gdLst/>
            <a:ahLst/>
            <a:cxnLst/>
            <a:rect r="r" b="b" t="t" l="l"/>
            <a:pathLst>
              <a:path h="7618144" w="5707150">
                <a:moveTo>
                  <a:pt x="5707150" y="0"/>
                </a:moveTo>
                <a:lnTo>
                  <a:pt x="0" y="0"/>
                </a:lnTo>
                <a:lnTo>
                  <a:pt x="0" y="7618144"/>
                </a:lnTo>
                <a:lnTo>
                  <a:pt x="5707150" y="7618144"/>
                </a:lnTo>
                <a:lnTo>
                  <a:pt x="5707150" y="0"/>
                </a:lnTo>
                <a:close/>
              </a:path>
            </a:pathLst>
          </a:custGeom>
          <a:blipFill>
            <a:blip r:embed="rId2"/>
            <a:stretch>
              <a:fillRect l="-42059" t="-41898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8600" y="288417"/>
            <a:ext cx="8686800" cy="876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6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Com este trabalho aprendemos que ML e Fuzzy se complementam, como um arquiteto e um engenheiro: um processa os dados, o outro os entrega em uma linguagem acionável para quem precisa agir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06120" y="4041388"/>
            <a:ext cx="3792658" cy="64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400" spc="-72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SINTESE E APRENDIZADOS</a:t>
            </a:r>
          </a:p>
          <a:p>
            <a:pPr algn="l">
              <a:lnSpc>
                <a:spcPts val="254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297073" y="5760527"/>
            <a:ext cx="7789103" cy="48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</a:pPr>
            <a:r>
              <a:rPr lang="en-US" b="true" sz="3399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PIPELINE ML + FUZZY INTEGRADO: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02150" y="97085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PÁGINA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97073" y="6377121"/>
            <a:ext cx="9553612" cy="315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400" b="true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Naive Bayes</a:t>
            </a:r>
            <a:r>
              <a:rPr lang="en-US" sz="24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 (92,1%) classicfica o risco histórico e entrega a probabilidade calibrada</a:t>
            </a:r>
          </a:p>
          <a:p>
            <a:pPr algn="l">
              <a:lnSpc>
                <a:spcPts val="2544"/>
              </a:lnSpc>
            </a:pPr>
          </a:p>
          <a:p>
            <a:pPr algn="l">
              <a:lnSpc>
                <a:spcPts val="2544"/>
              </a:lnSpc>
            </a:pPr>
            <a:r>
              <a:rPr lang="en-US" sz="2400" b="true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Sistema Mamdani</a:t>
            </a:r>
            <a:r>
              <a:rPr lang="en-US" sz="24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 (8 regras) contextualiza com frequência e AVA atuais, devolvendo “CRÍTICO, 88/100” em vez de “alto, 0.73”</a:t>
            </a:r>
          </a:p>
          <a:p>
            <a:pPr algn="l">
              <a:lnSpc>
                <a:spcPts val="2544"/>
              </a:lnSpc>
            </a:pPr>
          </a:p>
          <a:p>
            <a:pPr algn="l">
              <a:lnSpc>
                <a:spcPts val="2544"/>
              </a:lnSpc>
            </a:pPr>
            <a:r>
              <a:rPr lang="en-US" sz="2400" b="true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Limitação</a:t>
            </a:r>
            <a:r>
              <a:rPr lang="en-US" sz="24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: base sintética </a:t>
            </a:r>
          </a:p>
          <a:p>
            <a:pPr algn="l">
              <a:lnSpc>
                <a:spcPts val="2544"/>
              </a:lnSpc>
            </a:pPr>
          </a:p>
          <a:p>
            <a:pPr algn="l">
              <a:lnSpc>
                <a:spcPts val="2544"/>
              </a:lnSpc>
            </a:pPr>
            <a:r>
              <a:rPr lang="en-US" sz="2400" b="true">
                <a:solidFill>
                  <a:srgbClr val="1800AD"/>
                </a:solidFill>
                <a:latin typeface="Inter Bold"/>
                <a:ea typeface="Inter Bold"/>
                <a:cs typeface="Inter Bold"/>
                <a:sym typeface="Inter Bold"/>
              </a:rPr>
              <a:t>Melhoria futura: </a:t>
            </a:r>
            <a:r>
              <a:rPr lang="en-US" sz="2400">
                <a:solidFill>
                  <a:srgbClr val="1800AD"/>
                </a:solidFill>
                <a:latin typeface="Inter"/>
                <a:ea typeface="Inter"/>
                <a:cs typeface="Inter"/>
                <a:sym typeface="Inter"/>
              </a:rPr>
              <a:t>ANFIS - para calibrar as funções de pertinência automaticamente com os próprios dados.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DAHLwbJVY8E</dc:identifier>
  <dcterms:modified xsi:type="dcterms:W3CDTF">2011-08-01T06:04:30Z</dcterms:modified>
  <cp:revision>1</cp:revision>
  <dc:title>fuzzy</dc:title>
</cp:coreProperties>
</file>